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Content volume</c:v>
                </c:pt>
              </c:strCache>
            </c:strRef>
          </c:tx>
          <c:spPr>
            <a:ln w="38100" cap="flat">
              <a:solidFill>
                <a:srgbClr val="CCD5A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D5AE"/>
              </a:solidFill>
              <a:ln w="9525" cap="flat">
                <a:solidFill>
                  <a:srgbClr val="CCD5A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’19</c:v>
                </c:pt>
                <c:pt idx="1">
                  <c:v>’20</c:v>
                </c:pt>
                <c:pt idx="2">
                  <c:v>’21</c:v>
                </c:pt>
                <c:pt idx="3">
                  <c:v>’22</c:v>
                </c:pt>
                <c:pt idx="4">
                  <c:v>’23</c:v>
                </c:pt>
                <c:pt idx="5">
                  <c:v>’24</c:v>
                </c:pt>
                <c:pt idx="6">
                  <c:v>’25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22</c:v>
                </c:pt>
                <c:pt idx="2">
                  <c:v>41</c:v>
                </c:pt>
                <c:pt idx="3">
                  <c:v>78</c:v>
                </c:pt>
                <c:pt idx="4">
                  <c:v>140</c:v>
                </c:pt>
                <c:pt idx="5">
                  <c:v>240</c:v>
                </c:pt>
                <c:pt idx="6">
                  <c:v>380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553-4852-9A80-D6CF6C4B73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Review capacity</c:v>
                </c:pt>
              </c:strCache>
            </c:strRef>
          </c:tx>
          <c:spPr>
            <a:ln w="38100" cap="flat">
              <a:solidFill>
                <a:srgbClr val="E07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A5F"/>
              </a:solidFill>
              <a:ln w="9525" cap="flat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’19</c:v>
                </c:pt>
                <c:pt idx="1">
                  <c:v>’20</c:v>
                </c:pt>
                <c:pt idx="2">
                  <c:v>’21</c:v>
                </c:pt>
                <c:pt idx="3">
                  <c:v>’22</c:v>
                </c:pt>
                <c:pt idx="4">
                  <c:v>’23</c:v>
                </c:pt>
                <c:pt idx="5">
                  <c:v>’24</c:v>
                </c:pt>
                <c:pt idx="6">
                  <c:v>’25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101</c:v>
                </c:pt>
                <c:pt idx="2">
                  <c:v>99</c:v>
                </c:pt>
                <c:pt idx="3">
                  <c:v>102</c:v>
                </c:pt>
                <c:pt idx="4">
                  <c:v>100</c:v>
                </c:pt>
                <c:pt idx="5">
                  <c:v>101</c:v>
                </c:pt>
                <c:pt idx="6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553-4852-9A80-D6CF6C4B7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9C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2121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C9C9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2121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B24B"/>
              </a:solidFill>
              <a:ln w="12700" cap="flat">
                <a:solidFill>
                  <a:srgbClr val="16161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DD1-443C-AA9A-18DCAA5BD770}"/>
              </c:ext>
            </c:extLst>
          </c:dPt>
          <c:dPt>
            <c:idx val="1"/>
            <c:bubble3D val="0"/>
            <c:spPr>
              <a:solidFill>
                <a:srgbClr val="222226"/>
              </a:solidFill>
              <a:ln w="12700" cap="flat">
                <a:solidFill>
                  <a:srgbClr val="16161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DD1-443C-AA9A-18DCAA5BD770}"/>
              </c:ext>
            </c:extLst>
          </c:dPt>
          <c:cat>
            <c:strRef>
              <c:f>Sheet1!$A$2:$A$3</c:f>
              <c:strCache>
                <c:ptCount val="2"/>
                <c:pt idx="0">
                  <c:v>s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D1-443C-AA9A-18DCAA5BD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1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CCD5A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AFAF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Tone</c:v>
                </c:pt>
                <c:pt idx="1">
                  <c:v>Messaging</c:v>
                </c:pt>
                <c:pt idx="2">
                  <c:v>Banned-phrase safety</c:v>
                </c:pt>
                <c:pt idx="3">
                  <c:v>Audience fit</c:v>
                </c:pt>
                <c:pt idx="4">
                  <c:v>Clarity &amp; trust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72-4720-9682-4A22CE5C41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9C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12121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21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7A5F"/>
              </a:solidFill>
              <a:ln w="12700" cap="flat">
                <a:solidFill>
                  <a:srgbClr val="16161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291-4176-9BD3-FB907AA31910}"/>
              </c:ext>
            </c:extLst>
          </c:dPt>
          <c:dPt>
            <c:idx val="1"/>
            <c:bubble3D val="0"/>
            <c:spPr>
              <a:solidFill>
                <a:srgbClr val="222226"/>
              </a:solidFill>
              <a:ln w="12700" cap="flat">
                <a:solidFill>
                  <a:srgbClr val="16161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291-4176-9BD3-FB907AA31910}"/>
              </c:ext>
            </c:extLst>
          </c:dPt>
          <c:cat>
            <c:strRef>
              <c:f>Sheet1!$A$2:$A$3</c:f>
              <c:strCache>
                <c:ptCount val="2"/>
                <c:pt idx="0">
                  <c:v>s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91-4176-9BD3-FB907AA319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54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hook. Narrative Guard is an AI-native platform that judges any piece of content against a brand's own rule-set before it is published. Set the cinematic tone; do not explain features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pattern; numbers illustrative. Regulated industries + bold claims + banned phrases that slip past every human review layer. This is the emotional stake before we show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numbers — they establish problem significance and real-world relevance. The gap between having rules and following them is the wedge.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voice failure is cross-functional — that breadth is why this is a real, fundable problem, not a niche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Urgency = NOW. AI has made content cheap and infinite; governance is still manual. The two curves diverging is the core 'why now'.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moment / act break. This is the bridge from problem to solution. Hold a beat before advancing.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mockup with a real dashboard screenshot. The product turns a 40-page PDF into one searchable source of truth, then enforces it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once, then audit endlessly. The 4-step loop is the whole product in a sentence — and it's the user adoption path: PLG self-serve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innovation + technical-execution money slide. AI provides judgment; rules provide accountability. That separation is what makes scores defensible to a compliance team — and is our core differentiator vs. a ChatGPT wrapper.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named dimensions = explainability. Three verdicts = zero ambiguity for the user. The weighting is transparent and published, which supports the ethical-AI / transparency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Evidence-linked findings are central to both technical depth and ethical AI: every flag points to the exact clause it came from. No unexplained verdicts.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Workspaces + RBAC make this enterprise- and agency-ready from day one, and underpin the multi-tenant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Serverless + type-safe end to end = production maturity and elastic scale with near-zero infra ops. This addresses technical execution and scalability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deliberately don't do grammar — that's a solved commodity. Our moat is the RAG-indexed constitution + deterministic, evidence-backed scoring, which none of the incumbents combine.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Responsible-AI is a first-class design property here, not an afterthought: explainability, evidence, bias control, data ownership, human-in-the-loop, and public transparency. Directly targets the Ethical-AI compliance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slide. P1 is a complete, production-grade application — not slideware. 'Zero black-box scores' reinforces the deterministic-scoring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Monetization = multi-tenant SaaS with PLG bottom-up + enterprise/agency top-down. Regulated industries anchor willingness-to-pay. Pricing is indicative pending validation (P2).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Cloud-native + modular + multilingual = technical scalability. NRB collaboration: partner with Non-Resident Bangladeshi operators and agencies as design partners and as a go-to-market channel into global markets, building on open APIs. Targets the Scalability + NRB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Clear, sequenced path from a shipped product (P1) to analytics &amp; reliability (P2) to always-on automated monitoring (P3). The roadmap shows we know exactly what 'done' looks like at each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Demo-day framing. Replace the bracketed traction line with real early-user quotes or metrics. The 15–30 min → 12 sec contrast is the single most memorable proof point — say it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emotion, not features. Deliver the vision line slowly. Then the single CTA: paste your content, see your score. Swap in the real URL, email and a generated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7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0" y="-685800"/>
            <a:ext cx="6035040" cy="6035040"/>
          </a:xfrm>
          <a:prstGeom prst="ellipse">
            <a:avLst/>
          </a:prstGeom>
          <a:solidFill>
            <a:srgbClr val="CCD5A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14600" y="274320"/>
            <a:ext cx="4114800" cy="4114800"/>
          </a:xfrm>
          <a:prstGeom prst="ellipse">
            <a:avLst/>
          </a:prstGeom>
          <a:solidFill>
            <a:srgbClr val="CCD5AE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68980" y="1028700"/>
            <a:ext cx="2606040" cy="2606040"/>
          </a:xfrm>
          <a:prstGeom prst="ellipse">
            <a:avLst/>
          </a:prstGeom>
          <a:solidFill>
            <a:srgbClr val="CCD5AE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206240" y="868680"/>
            <a:ext cx="731520" cy="731520"/>
          </a:xfrm>
          <a:prstGeom prst="ellipse">
            <a:avLst/>
          </a:prstGeom>
          <a:solidFill>
            <a:srgbClr val="121215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50" y="10661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15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GUARD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brand's voice has rules. Now they have a judge.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310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BRAND VOICE COHERENCE PLATFORM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· A PATTERN WE SEE CONSTANTLY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tweet that cost $4.2M.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copywriter at a Fortune 500 health brand published one sentence.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43000" y="1828800"/>
            <a:ext cx="6858000" cy="1024128"/>
          </a:xfrm>
          <a:prstGeom prst="roundRect">
            <a:avLst>
              <a:gd name="adj" fmla="val 8036"/>
            </a:avLst>
          </a:prstGeom>
          <a:solidFill>
            <a:srgbClr val="161616"/>
          </a:solidFill>
          <a:ln w="12700">
            <a:solidFill>
              <a:srgbClr val="5A3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048256"/>
            <a:ext cx="457200" cy="457200"/>
          </a:xfrm>
          <a:prstGeom prst="ellipse">
            <a:avLst/>
          </a:prstGeom>
          <a:solidFill>
            <a:srgbClr val="201312"/>
          </a:solidFill>
          <a:ln w="15875">
            <a:solidFill>
              <a:srgbClr val="E07A5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44" y="217170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828800"/>
            <a:ext cx="5806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product is </a:t>
            </a:r>
            <a:r>
              <a:rPr lang="en-US" sz="1900" b="1" i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GUARANTEED</a:t>
            </a:r>
            <a:r>
              <a:rPr lang="en-US" sz="1900" i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fix your sleep — </a:t>
            </a:r>
            <a:r>
              <a:rPr lang="en-US" sz="1900" b="1" i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effortlessly</a:t>
            </a:r>
            <a:r>
              <a:rPr lang="en-US" sz="1900" i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2499055" cy="1234440"/>
          </a:xfrm>
          <a:prstGeom prst="roundRect">
            <a:avLst>
              <a:gd name="adj" fmla="val 666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346704"/>
            <a:ext cx="24990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731520" y="3931920"/>
            <a:ext cx="2133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FDA flagged it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67735" y="3200400"/>
            <a:ext cx="2499055" cy="1234440"/>
          </a:xfrm>
          <a:prstGeom prst="roundRect">
            <a:avLst>
              <a:gd name="adj" fmla="val 666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7735" y="3346704"/>
            <a:ext cx="24990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7B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550615" y="3931920"/>
            <a:ext cx="2133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class-action began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87745" y="3200400"/>
            <a:ext cx="2499055" cy="1234440"/>
          </a:xfrm>
          <a:prstGeom prst="roundRect">
            <a:avLst>
              <a:gd name="adj" fmla="val 666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87745" y="3346704"/>
            <a:ext cx="24990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mo.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370625" y="3931920"/>
            <a:ext cx="2133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brand recovered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· THE UNCOMFORTABLE TRUTH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brand has rules.</a:t>
            </a:r>
            <a:endParaRPr lang="en-US" sz="3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CCD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nobody follows them.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499055" cy="2057400"/>
          </a:xfrm>
          <a:prstGeom prst="roundRect">
            <a:avLst>
              <a:gd name="adj" fmla="val 40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24990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04672" y="3200400"/>
            <a:ext cx="198699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brand managers say their teams publish off-brand content at least monthly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7735" y="2057400"/>
            <a:ext cx="2499055" cy="2057400"/>
          </a:xfrm>
          <a:prstGeom prst="roundRect">
            <a:avLst>
              <a:gd name="adj" fmla="val 40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7735" y="2286000"/>
            <a:ext cx="24990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23767" y="3200400"/>
            <a:ext cx="198699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cost of brand inconsistency across the Fortune 1000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7745" y="2057400"/>
            <a:ext cx="2499055" cy="2057400"/>
          </a:xfrm>
          <a:prstGeom prst="roundRect">
            <a:avLst>
              <a:gd name="adj" fmla="val 40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87745" y="2286000"/>
            <a:ext cx="24990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4.7×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43777" y="3200400"/>
            <a:ext cx="198699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a customer churns after seeing contradictory brand messaging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3708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Lucidpress Brand Consistency Report; McKinsey brand studies. Figures indicative.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· WHO FEELS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design problem.</a:t>
            </a:r>
            <a:endParaRPr lang="en-US" sz="3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CCD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an everyone problem.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202119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1911096"/>
            <a:ext cx="1615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44144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wrote a 40-page brand book. Nobody reads past page 3.”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3105" y="169164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4273" y="1892808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655" y="202119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39489" y="1911096"/>
            <a:ext cx="1615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72561" y="244144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“‘Match the voice’ — but nobody defines it for me in real time.”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56655" y="169164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7823" y="1892808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205" y="202119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3039" y="1911096"/>
            <a:ext cx="1615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Director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76111" y="244144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learn about off-brand content when a customer complains.”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355848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90" y="348423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35024" y="3374136"/>
            <a:ext cx="1615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" y="390448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banned phrase in an ad can trigger a regulatory review.”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353105" y="315468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554273" y="3355848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2655" y="3484230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39489" y="3374136"/>
            <a:ext cx="1615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Account Lead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572561" y="390448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“12 brands, different rules. We slip up weekly.”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56655" y="315468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57823" y="3355848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205" y="3484230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3039" y="3374136"/>
            <a:ext cx="1615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376111" y="390448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brand is our moat. Every off-brand post erodes it.”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· THE STATUS QUO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governance today: write-once, read-never.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97680" cy="2331720"/>
          </a:xfrm>
          <a:prstGeom prst="roundRect">
            <a:avLst>
              <a:gd name="adj" fmla="val 3529"/>
            </a:avLst>
          </a:prstGeom>
          <a:solidFill>
            <a:srgbClr val="121215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83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volume vs. human review capacity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103120"/>
          <a:ext cx="41148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07492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“system” it replaces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74920" y="2121408"/>
            <a:ext cx="3566160" cy="338328"/>
          </a:xfrm>
          <a:prstGeom prst="roundRect">
            <a:avLst>
              <a:gd name="adj" fmla="val 24324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212848"/>
            <a:ext cx="155448" cy="155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68112" y="2121408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47-page PDF guidelines — gathering dust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74920" y="2532888"/>
            <a:ext cx="3566160" cy="338328"/>
          </a:xfrm>
          <a:prstGeom prst="roundRect">
            <a:avLst>
              <a:gd name="adj" fmla="val 24324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624328"/>
            <a:ext cx="155448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68112" y="2532888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“can we say ‘guaranteed’?”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074920" y="2944368"/>
            <a:ext cx="3566160" cy="338328"/>
          </a:xfrm>
          <a:prstGeom prst="roundRect">
            <a:avLst>
              <a:gd name="adj" fmla="val 24324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035808"/>
            <a:ext cx="155448" cy="1554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68112" y="2944368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 RE: FW: brand voice review needed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074920" y="3355848"/>
            <a:ext cx="3566160" cy="338328"/>
          </a:xfrm>
          <a:prstGeom prst="roundRect">
            <a:avLst>
              <a:gd name="adj" fmla="val 24324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447288"/>
            <a:ext cx="155448" cy="1554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68112" y="3355848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note: DON'T SAY CHEAP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5074920" y="3767328"/>
            <a:ext cx="3566160" cy="338328"/>
          </a:xfrm>
          <a:prstGeom prst="roundRect">
            <a:avLst>
              <a:gd name="adj" fmla="val 24324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858768"/>
            <a:ext cx="155448" cy="1554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68112" y="3767328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 · 14 unresolved comments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548640" y="42245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publish 10× more content than three years ago. The review process hasn't changed since 2015.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" y="-859536"/>
            <a:ext cx="6839712" cy="6839712"/>
          </a:xfrm>
          <a:prstGeom prst="ellipse">
            <a:avLst/>
          </a:prstGeom>
          <a:solidFill>
            <a:srgbClr val="CCD5A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40280" y="228600"/>
            <a:ext cx="4663440" cy="4663440"/>
          </a:xfrm>
          <a:prstGeom prst="ellipse">
            <a:avLst/>
          </a:prstGeom>
          <a:solidFill>
            <a:srgbClr val="CCD5AE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95244" y="1083564"/>
            <a:ext cx="2953512" cy="2953512"/>
          </a:xfrm>
          <a:prstGeom prst="ellipse">
            <a:avLst/>
          </a:prstGeom>
          <a:solidFill>
            <a:srgbClr val="CCD5AE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0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your brand constitution could read every piece of content before it goes live — and </a:t>
            </a:r>
            <a:r>
              <a:rPr lang="en-US" sz="3000" b="1" i="1" dirty="0">
                <a:solidFill>
                  <a:srgbClr val="CCD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it in seconds?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· 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GUARD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brand-voice coherence — before you publish.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19933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brand's rules once.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560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 piece of content instantly.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31272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score, a verdict, specific findings — and a compliant rewrite.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“Paste your content. Get a brand coherence score in seconds. Know exactly what's off — and how to fix it.”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1417320"/>
            <a:ext cx="3566160" cy="3154680"/>
          </a:xfrm>
          <a:prstGeom prst="roundRect">
            <a:avLst>
              <a:gd name="adj" fmla="val 2609"/>
            </a:avLst>
          </a:prstGeom>
          <a:solidFill>
            <a:srgbClr val="161618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57800" y="15727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</a:t>
            </a:r>
            <a:endParaRPr lang="en-US" sz="9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372100" y="1778508"/>
          <a:ext cx="12344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5372100" y="21945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B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r>
              <a:rPr lang="en-US" sz="9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/100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812280" y="1993392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2A2410"/>
          </a:solidFill>
          <a:ln w="12700">
            <a:solidFill>
              <a:srgbClr val="E7B2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19933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B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84848" y="24323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· Messaging · Banned-phrase safety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257800" y="3200400"/>
            <a:ext cx="3200400" cy="457200"/>
          </a:xfrm>
          <a:prstGeom prst="roundRect">
            <a:avLst>
              <a:gd name="adj" fmla="val 180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13248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“cheap”  </a:t>
            </a:r>
            <a:r>
              <a:rPr lang="en-US" sz="11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phrase · high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257800" y="3767328"/>
            <a:ext cx="3200400" cy="457200"/>
          </a:xfrm>
          <a:prstGeom prst="roundRect">
            <a:avLst>
              <a:gd name="adj" fmla="val 180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13248" y="3767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“guaranteed”  </a:t>
            </a:r>
            <a:r>
              <a:rPr lang="en-US" sz="11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claim · high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brand chaos to brand clarity — in four steps.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28800" cy="2468880"/>
          </a:xfrm>
          <a:prstGeom prst="roundRect">
            <a:avLst>
              <a:gd name="adj" fmla="val 45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057400"/>
            <a:ext cx="566928" cy="56692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647" y="22104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35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3456432"/>
            <a:ext cx="14996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Brand Constitution: tone, messaging pillars, banned phrases, audience rules.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40864" y="278892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651760" y="1828800"/>
            <a:ext cx="1828800" cy="2468880"/>
          </a:xfrm>
          <a:prstGeom prst="roundRect">
            <a:avLst>
              <a:gd name="adj" fmla="val 45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82696" y="2057400"/>
            <a:ext cx="566928" cy="56692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767" y="221047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51760" y="3035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816352" y="3456432"/>
            <a:ext cx="14996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any content before it ships and pick the content type.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43984" y="278892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754880" y="1828800"/>
            <a:ext cx="1828800" cy="2468880"/>
          </a:xfrm>
          <a:prstGeom prst="roundRect">
            <a:avLst>
              <a:gd name="adj" fmla="val 45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85816" y="2057400"/>
            <a:ext cx="566928" cy="56692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887" y="2210471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754880" y="3035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4919472" y="3456432"/>
            <a:ext cx="14996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it against your constitution using RAG + a deterministic rules engine.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547104" y="278892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858000" y="1828800"/>
            <a:ext cx="1828800" cy="2468880"/>
          </a:xfrm>
          <a:prstGeom prst="roundRect">
            <a:avLst>
              <a:gd name="adj" fmla="val 45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88936" y="2057400"/>
            <a:ext cx="566928" cy="56692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2007" y="2210471"/>
            <a:ext cx="260787" cy="2607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80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858000" y="3035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022592" y="3456432"/>
            <a:ext cx="14996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findings, severity, evidence — and a brand-aware compliant rewrite.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AI. AI + RAG + Rules + Deterministic Scoring.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submitted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42516" cy="1417320"/>
          </a:xfrm>
          <a:prstGeom prst="roundRect">
            <a:avLst>
              <a:gd name="adj" fmla="val 5806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84832"/>
            <a:ext cx="457200" cy="457200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2208276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103120"/>
            <a:ext cx="10195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14767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text + vector search pulls the relevant Brand Constitution clauses.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372868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647188" y="1920240"/>
            <a:ext cx="1842516" cy="1417320"/>
          </a:xfrm>
          <a:prstGeom prst="roundRect">
            <a:avLst>
              <a:gd name="adj" fmla="val 5806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0068" y="2084832"/>
            <a:ext cx="457200" cy="457200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2208276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0420" y="2103120"/>
            <a:ext cx="10195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830068" y="2606040"/>
            <a:ext cx="14767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content across 5 dimensions; Zod-validated structured output.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471416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745736" y="1920240"/>
            <a:ext cx="1842516" cy="1417320"/>
          </a:xfrm>
          <a:prstGeom prst="roundRect">
            <a:avLst>
              <a:gd name="adj" fmla="val 5806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28616" y="2084832"/>
            <a:ext cx="457200" cy="457200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2208276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58968" y="2103120"/>
            <a:ext cx="10195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928616" y="2606040"/>
            <a:ext cx="14767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caps, floors &amp; per-content-type multipliers applied in code.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569964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844284" y="1920240"/>
            <a:ext cx="1842516" cy="1417320"/>
          </a:xfrm>
          <a:prstGeom prst="roundRect">
            <a:avLst>
              <a:gd name="adj" fmla="val 5806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27164" y="2084832"/>
            <a:ext cx="457200" cy="457200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2208276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57516" y="2103120"/>
            <a:ext cx="10195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027164" y="2606040"/>
            <a:ext cx="14767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verdict · evidence-linked findings · compliant rewrite.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3611880"/>
            <a:ext cx="8138160" cy="1005840"/>
          </a:xfrm>
          <a:prstGeom prst="roundRect">
            <a:avLst>
              <a:gd name="adj" fmla="val 8182"/>
            </a:avLst>
          </a:prstGeom>
          <a:solidFill>
            <a:srgbClr val="20240F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7240" y="3858768"/>
            <a:ext cx="512064" cy="512064"/>
          </a:xfrm>
          <a:prstGeom prst="ellipse">
            <a:avLst/>
          </a:prstGeom>
          <a:solidFill>
            <a:srgbClr val="CCD5AE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398678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3639312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not decide the score.  </a:t>
            </a:r>
            <a:r>
              <a:rPr lang="en-US" sz="13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structured analysis; the backend applies rules deterministically — so every score is reproducible, explainable, and auditable.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lenses. One score. Three clear verdicts.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51960" cy="2697480"/>
          </a:xfrm>
          <a:prstGeom prst="roundRect">
            <a:avLst>
              <a:gd name="adj" fmla="val 3051"/>
            </a:avLst>
          </a:prstGeom>
          <a:solidFill>
            <a:srgbClr val="121215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dimensions (100 pts)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03504" y="2121408"/>
          <a:ext cx="4160520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73736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0" y="1920240"/>
            <a:ext cx="438912" cy="438912"/>
          </a:xfrm>
          <a:prstGeom prst="ellipse">
            <a:avLst/>
          </a:prstGeom>
          <a:solidFill>
            <a:srgbClr val="CCD5A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202996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79008" y="182880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Brand   </a:t>
            </a: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79008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&amp; safe to publish — ship it.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0" y="265176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212080" y="2834640"/>
            <a:ext cx="438912" cy="438912"/>
          </a:xfrm>
          <a:prstGeom prst="ellipse">
            <a:avLst/>
          </a:prstGeom>
          <a:solidFill>
            <a:srgbClr val="E7B24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294436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79008" y="274320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B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   </a:t>
            </a: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65–84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779008" y="3035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drift — fix findings, then re-audit.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29200" y="356616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212080" y="3749040"/>
            <a:ext cx="438912" cy="438912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385876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79008" y="365760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Brand   </a:t>
            </a: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65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779008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or contradiction — use the rewrite.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4864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then penalized, capped, and floored by content type and severity.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vague “looks good.” A forensic brand audit.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77640" cy="3063240"/>
          </a:xfrm>
          <a:prstGeom prst="roundRect">
            <a:avLst>
              <a:gd name="adj" fmla="val 2687"/>
            </a:avLst>
          </a:prstGeom>
          <a:solidFill>
            <a:srgbClr val="161618"/>
          </a:solidFill>
          <a:ln w="12700">
            <a:solidFill>
              <a:srgbClr val="2B2B2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45820" y="189738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45820" y="22677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r>
              <a:rPr lang="en-US" sz="9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/100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286000" y="197510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512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19751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BRAND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86000" y="2395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findings · 2 banned phrases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30723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“cheap”  </a:t>
            </a:r>
            <a:r>
              <a:rPr lang="en-US" sz="11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banned phrase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4564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“guaranteed”  </a:t>
            </a:r>
            <a:r>
              <a:rPr lang="en-US" sz="11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absolute claim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8404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“effortlessly”  </a:t>
            </a:r>
            <a:r>
              <a:rPr lang="en-US" sz="1100" dirty="0">
                <a:solidFill>
                  <a:srgbClr val="E7B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banned phrase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2519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 </a:t>
            </a:r>
            <a:r>
              <a:rPr lang="en-US" sz="1050" i="1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exceptional value, built on the trust you deserve.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46320" y="17556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contains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185416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214884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score + plain-English summary</a:t>
            </a:r>
            <a:endParaRPr lang="en-US" sz="11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5117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20640" y="251460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badge (On Brand / Needs Review / Off Brand)</a:t>
            </a:r>
            <a:endParaRPr lang="en-US" sz="11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916936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28803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flagged sentence, reason &amp; severity</a:t>
            </a:r>
            <a:endParaRPr lang="en-US" sz="11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82696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0640" y="324612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quoted from your Brand Constitution</a:t>
            </a:r>
            <a:endParaRPr lang="en-US" sz="11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648456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20640" y="361188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↔ rewrite diff with highlighted changes</a:t>
            </a:r>
            <a:endParaRPr lang="en-US" sz="11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4014216"/>
            <a:ext cx="146304" cy="14630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20640" y="397764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score breakdown</a:t>
            </a:r>
            <a:endParaRPr lang="en-US" sz="11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4379976"/>
            <a:ext cx="146304" cy="14630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20640" y="434340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Re-audit, PDF download, copy rewrite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1" name="Text 21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team. Your rules. Your workspace.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566928"/>
          </a:xfrm>
          <a:prstGeom prst="roundRect">
            <a:avLst>
              <a:gd name="adj" fmla="val 14516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— e.g. “Acme Corp Marketing”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340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4023360" cy="548640"/>
          </a:xfrm>
          <a:prstGeom prst="roundRect">
            <a:avLst>
              <a:gd name="adj" fmla="val 150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724912"/>
            <a:ext cx="182880" cy="182880"/>
          </a:xfrm>
          <a:prstGeom prst="ellipse">
            <a:avLst/>
          </a:prstGeom>
          <a:solidFill>
            <a:srgbClr val="CCD5AE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5420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25420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brands, team &amp; settings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4023360" cy="548640"/>
          </a:xfrm>
          <a:prstGeom prst="roundRect">
            <a:avLst>
              <a:gd name="adj" fmla="val 150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383280"/>
            <a:ext cx="182880" cy="182880"/>
          </a:xfrm>
          <a:prstGeom prst="ellipse">
            <a:avLst/>
          </a:prstGeom>
          <a:solidFill>
            <a:srgbClr val="FAEDCD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200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3200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brands, manage members, delete reports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4023360" cy="548640"/>
          </a:xfrm>
          <a:prstGeom prst="roundRect">
            <a:avLst>
              <a:gd name="adj" fmla="val 150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041648"/>
            <a:ext cx="182880" cy="182880"/>
          </a:xfrm>
          <a:prstGeom prst="ellipse">
            <a:avLst/>
          </a:prstGeom>
          <a:solidFill>
            <a:srgbClr val="FEFAE0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858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38587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content, view reports, download PDFs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83480" y="1783080"/>
            <a:ext cx="512064" cy="512064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37" y="1921337"/>
            <a:ext cx="235549" cy="23554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69280" y="17647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workspaces per user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0" y="20756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manage many clients, isolated.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983480" y="2514600"/>
            <a:ext cx="512064" cy="512064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737" y="2652857"/>
            <a:ext cx="235549" cy="23554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69280" y="24963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one-time invite links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669280" y="28072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join via hashed invite tokens.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983480" y="3246120"/>
            <a:ext cx="512064" cy="512064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737" y="3384377"/>
            <a:ext cx="235549" cy="23554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669280" y="322783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RBAC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5669280" y="3538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is authorized on the backend.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983480" y="3977640"/>
            <a:ext cx="512064" cy="512064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1737" y="4115897"/>
            <a:ext cx="235549" cy="235549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669280" y="39593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UI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669280" y="42702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see only what they can act on.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Real-time. Type-safe. Serverless. Scalable from day one.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554480" y="1645920"/>
            <a:ext cx="6035040" cy="713232"/>
          </a:xfrm>
          <a:prstGeom prst="roundRect">
            <a:avLst>
              <a:gd name="adj" fmla="val 11538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645920"/>
            <a:ext cx="6035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TypeScript (strict)
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· shadcn/ui · real-time subscriptions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2395728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Convex React client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2688336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2688336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BACKEND
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· mutations · actions · scheduler · auth (Google OAuth) · document 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34564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3694176"/>
            <a:ext cx="2834640" cy="603504"/>
          </a:xfrm>
          <a:prstGeom prst="roundRect">
            <a:avLst>
              <a:gd name="adj" fmla="val 13636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9072" y="3803904"/>
            <a:ext cx="384048" cy="38404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765" y="3907597"/>
            <a:ext cx="176662" cy="1766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12848" y="3694176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  </a:t>
            </a: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text + vector search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34564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3694176"/>
            <a:ext cx="2834640" cy="603504"/>
          </a:xfrm>
          <a:prstGeom prst="roundRect">
            <a:avLst>
              <a:gd name="adj" fmla="val 13636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19472" y="3803904"/>
            <a:ext cx="384048" cy="38404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165" y="3907597"/>
            <a:ext cx="176662" cy="1766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13248" y="3694176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 </a:t>
            </a: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+ embeddings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44988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50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 ·   Convex   ·   Google Gemini   ·   AI SDK   ·   Zod   ·   @convex-dev/rag   ·   TanStack Table   ·   react-to-print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 check grammar. We check brand truth.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967728" y="1645920"/>
            <a:ext cx="1563624" cy="2907792"/>
          </a:xfrm>
          <a:prstGeom prst="roundRect">
            <a:avLst>
              <a:gd name="adj" fmla="val 3509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2868"/>
            <a:ext cx="7863840" cy="7315"/>
          </a:xfrm>
          <a:prstGeom prst="rect">
            <a:avLst/>
          </a:prstGeom>
          <a:solidFill>
            <a:srgbClr val="2B2B2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79192"/>
            <a:ext cx="7863840" cy="7315"/>
          </a:xfrm>
          <a:prstGeom prst="rect">
            <a:avLst/>
          </a:prstGeom>
          <a:solidFill>
            <a:srgbClr val="2B2B2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985516"/>
            <a:ext cx="7863840" cy="7315"/>
          </a:xfrm>
          <a:prstGeom prst="rect">
            <a:avLst/>
          </a:prstGeom>
          <a:solidFill>
            <a:srgbClr val="2B2B2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291840"/>
            <a:ext cx="7863840" cy="7315"/>
          </a:xfrm>
          <a:prstGeom prst="rect">
            <a:avLst/>
          </a:prstGeom>
          <a:solidFill>
            <a:srgbClr val="2B2B2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598164"/>
            <a:ext cx="7863840" cy="7315"/>
          </a:xfrm>
          <a:prstGeom prst="rect">
            <a:avLst/>
          </a:prstGeom>
          <a:solidFill>
            <a:srgbClr val="2B2B2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904488"/>
            <a:ext cx="7863840" cy="7315"/>
          </a:xfrm>
          <a:prstGeom prst="rect">
            <a:avLst/>
          </a:prstGeom>
          <a:solidFill>
            <a:srgbClr val="2B2B2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210812"/>
            <a:ext cx="7863840" cy="7315"/>
          </a:xfrm>
          <a:prstGeom prst="rect">
            <a:avLst/>
          </a:prstGeom>
          <a:solidFill>
            <a:srgbClr val="2B2B2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066544"/>
            <a:ext cx="7863840" cy="10973"/>
          </a:xfrm>
          <a:prstGeom prst="rect">
            <a:avLst/>
          </a:prstGeom>
          <a:solidFill>
            <a:srgbClr val="4A523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17007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86200" y="17007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17007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Writer.com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0" y="17007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Acrolinx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17007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2066544"/>
            <a:ext cx="31546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rules</a:t>
            </a:r>
            <a:endParaRPr lang="en-US" sz="10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146554"/>
            <a:ext cx="146304" cy="146304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388" y="2146554"/>
            <a:ext cx="146304" cy="146304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2146554"/>
            <a:ext cx="146304" cy="146304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132838"/>
            <a:ext cx="173736" cy="1737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" y="2372868"/>
            <a:ext cx="31546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 Constitution (RAG-indexed)</a:t>
            </a:r>
            <a:endParaRPr lang="en-US" sz="10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452878"/>
            <a:ext cx="146304" cy="146304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88" y="2452878"/>
            <a:ext cx="146304" cy="146304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2452878"/>
            <a:ext cx="146304" cy="146304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439162"/>
            <a:ext cx="173736" cy="17373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13232" y="2679192"/>
            <a:ext cx="31546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explainable scoring</a:t>
            </a:r>
            <a:endParaRPr lang="en-US" sz="10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759202"/>
            <a:ext cx="146304" cy="146304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88" y="2759202"/>
            <a:ext cx="146304" cy="146304"/>
          </a:xfrm>
          <a:prstGeom prst="rect">
            <a:avLst/>
          </a:prstGeom>
        </p:spPr>
      </p:pic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2759202"/>
            <a:ext cx="146304" cy="146304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745486"/>
            <a:ext cx="173736" cy="173736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13232" y="2985516"/>
            <a:ext cx="31546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Finding-level evidence</a:t>
            </a:r>
            <a:endParaRPr lang="en-US" sz="105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3065526"/>
            <a:ext cx="146304" cy="146304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88" y="3065526"/>
            <a:ext cx="146304" cy="146304"/>
          </a:xfrm>
          <a:prstGeom prst="rect">
            <a:avLst/>
          </a:prstGeom>
        </p:spPr>
      </p:pic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3065526"/>
            <a:ext cx="146304" cy="146304"/>
          </a:xfrm>
          <a:prstGeom prst="rect">
            <a:avLst/>
          </a:prstGeom>
        </p:spPr>
      </p:pic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3051810"/>
            <a:ext cx="173736" cy="173736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713232" y="3291840"/>
            <a:ext cx="31546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Brand-aware AI rewrite</a:t>
            </a:r>
            <a:endParaRPr lang="en-US" sz="1050" dirty="0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3371850"/>
            <a:ext cx="146304" cy="146304"/>
          </a:xfrm>
          <a:prstGeom prst="rect">
            <a:avLst/>
          </a:prstGeom>
        </p:spPr>
      </p:pic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388" y="3371850"/>
            <a:ext cx="146304" cy="146304"/>
          </a:xfrm>
          <a:prstGeom prst="rect">
            <a:avLst/>
          </a:prstGeom>
        </p:spPr>
      </p:pic>
      <p:pic>
        <p:nvPicPr>
          <p:cNvPr id="41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3371850"/>
            <a:ext cx="146304" cy="146304"/>
          </a:xfrm>
          <a:prstGeom prst="rect">
            <a:avLst/>
          </a:prstGeom>
        </p:spPr>
      </p:pic>
      <p:pic>
        <p:nvPicPr>
          <p:cNvPr id="42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3358134"/>
            <a:ext cx="173736" cy="173736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713232" y="3598164"/>
            <a:ext cx="31546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Per-content-type policies (6 types)</a:t>
            </a:r>
            <a:endParaRPr lang="en-US" sz="1050" dirty="0"/>
          </a:p>
        </p:txBody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3678174"/>
            <a:ext cx="146304" cy="146304"/>
          </a:xfrm>
          <a:prstGeom prst="rect">
            <a:avLst/>
          </a:prstGeom>
        </p:spPr>
      </p:pic>
      <p:pic>
        <p:nvPicPr>
          <p:cNvPr id="45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88" y="3678174"/>
            <a:ext cx="146304" cy="146304"/>
          </a:xfrm>
          <a:prstGeom prst="rect">
            <a:avLst/>
          </a:prstGeom>
        </p:spPr>
      </p:pic>
      <p:pic>
        <p:nvPicPr>
          <p:cNvPr id="46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3678174"/>
            <a:ext cx="146304" cy="146304"/>
          </a:xfrm>
          <a:prstGeom prst="rect">
            <a:avLst/>
          </a:prstGeom>
        </p:spPr>
      </p:pic>
      <p:pic>
        <p:nvPicPr>
          <p:cNvPr id="47" name="Image 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3664458"/>
            <a:ext cx="173736" cy="173736"/>
          </a:xfrm>
          <a:prstGeom prst="rect">
            <a:avLst/>
          </a:prstGeom>
        </p:spPr>
      </p:pic>
      <p:sp>
        <p:nvSpPr>
          <p:cNvPr id="48" name="Text 22"/>
          <p:cNvSpPr/>
          <p:nvPr/>
        </p:nvSpPr>
        <p:spPr>
          <a:xfrm>
            <a:off x="713232" y="3904488"/>
            <a:ext cx="31546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+ RBAC</a:t>
            </a:r>
            <a:endParaRPr lang="en-US" sz="1050" dirty="0"/>
          </a:p>
        </p:txBody>
      </p:sp>
      <p:pic>
        <p:nvPicPr>
          <p:cNvPr id="49" name="Image 2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3984498"/>
            <a:ext cx="146304" cy="146304"/>
          </a:xfrm>
          <a:prstGeom prst="rect">
            <a:avLst/>
          </a:prstGeom>
        </p:spPr>
      </p:pic>
      <p:pic>
        <p:nvPicPr>
          <p:cNvPr id="50" name="Image 2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388" y="3984498"/>
            <a:ext cx="146304" cy="146304"/>
          </a:xfrm>
          <a:prstGeom prst="rect">
            <a:avLst/>
          </a:prstGeom>
        </p:spPr>
      </p:pic>
      <p:pic>
        <p:nvPicPr>
          <p:cNvPr id="51" name="Image 2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3984498"/>
            <a:ext cx="146304" cy="146304"/>
          </a:xfrm>
          <a:prstGeom prst="rect">
            <a:avLst/>
          </a:prstGeom>
        </p:spPr>
      </p:pic>
      <p:pic>
        <p:nvPicPr>
          <p:cNvPr id="52" name="Image 2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3970782"/>
            <a:ext cx="173736" cy="173736"/>
          </a:xfrm>
          <a:prstGeom prst="rect">
            <a:avLst/>
          </a:prstGeom>
        </p:spPr>
      </p:pic>
      <p:sp>
        <p:nvSpPr>
          <p:cNvPr id="53" name="Text 23"/>
          <p:cNvSpPr/>
          <p:nvPr/>
        </p:nvSpPr>
        <p:spPr>
          <a:xfrm>
            <a:off x="713232" y="4210812"/>
            <a:ext cx="31546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scoring transparency</a:t>
            </a:r>
            <a:endParaRPr lang="en-US" sz="1050" dirty="0"/>
          </a:p>
        </p:txBody>
      </p:sp>
      <p:pic>
        <p:nvPicPr>
          <p:cNvPr id="54" name="Image 2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4290822"/>
            <a:ext cx="146304" cy="146304"/>
          </a:xfrm>
          <a:prstGeom prst="rect">
            <a:avLst/>
          </a:prstGeom>
        </p:spPr>
      </p:pic>
      <p:pic>
        <p:nvPicPr>
          <p:cNvPr id="55" name="Image 2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388" y="4290822"/>
            <a:ext cx="146304" cy="146304"/>
          </a:xfrm>
          <a:prstGeom prst="rect">
            <a:avLst/>
          </a:prstGeom>
        </p:spPr>
      </p:pic>
      <p:pic>
        <p:nvPicPr>
          <p:cNvPr id="56" name="Image 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4290822"/>
            <a:ext cx="146304" cy="146304"/>
          </a:xfrm>
          <a:prstGeom prst="rect">
            <a:avLst/>
          </a:prstGeom>
        </p:spPr>
      </p:pic>
      <p:pic>
        <p:nvPicPr>
          <p:cNvPr id="57" name="Image 3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4277106"/>
            <a:ext cx="173736" cy="173736"/>
          </a:xfrm>
          <a:prstGeom prst="rect">
            <a:avLst/>
          </a:prstGeom>
        </p:spPr>
      </p:pic>
      <p:pic>
        <p:nvPicPr>
          <p:cNvPr id="58" name="Image 3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45152"/>
            <a:ext cx="118872" cy="118872"/>
          </a:xfrm>
          <a:prstGeom prst="rect">
            <a:avLst/>
          </a:prstGeom>
        </p:spPr>
      </p:pic>
      <p:sp>
        <p:nvSpPr>
          <p:cNvPr id="59" name="Text 24"/>
          <p:cNvSpPr/>
          <p:nvPr/>
        </p:nvSpPr>
        <p:spPr>
          <a:xfrm>
            <a:off x="877824" y="4590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50" dirty="0"/>
          </a:p>
        </p:txBody>
      </p:sp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122" y="4645152"/>
            <a:ext cx="118872" cy="118872"/>
          </a:xfrm>
          <a:prstGeom prst="rect">
            <a:avLst/>
          </a:prstGeom>
        </p:spPr>
      </p:pic>
      <p:sp>
        <p:nvSpPr>
          <p:cNvPr id="61" name="Text 25"/>
          <p:cNvSpPr/>
          <p:nvPr/>
        </p:nvSpPr>
        <p:spPr>
          <a:xfrm>
            <a:off x="1594714" y="4590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pic>
        <p:nvPicPr>
          <p:cNvPr id="62" name="Image 3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062" y="4645152"/>
            <a:ext cx="118872" cy="118872"/>
          </a:xfrm>
          <a:prstGeom prst="rect">
            <a:avLst/>
          </a:prstGeom>
        </p:spPr>
      </p:pic>
      <p:sp>
        <p:nvSpPr>
          <p:cNvPr id="63" name="Text 26"/>
          <p:cNvSpPr/>
          <p:nvPr/>
        </p:nvSpPr>
        <p:spPr>
          <a:xfrm>
            <a:off x="2492654" y="4590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64" name="Shape 27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65" name="Text 28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66" name="Text 29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by design. Accountable by default.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493776" cy="493776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28" y="2026128"/>
            <a:ext cx="227137" cy="227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92808"/>
            <a:ext cx="16157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244144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explains; rules decide. Scores are reproducible and auditable — no black box.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3105" y="169164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4273" y="1892808"/>
            <a:ext cx="493776" cy="493776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592" y="2026128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57777" y="1892808"/>
            <a:ext cx="16157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Evidence-linked findings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72561" y="244144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cites the exact Brand Constitution clause behind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56655" y="169164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7823" y="1892808"/>
            <a:ext cx="493776" cy="493776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143" y="2026128"/>
            <a:ext cx="227137" cy="2271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1327" y="1892808"/>
            <a:ext cx="16157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drift control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76111" y="244144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per-type policies keep scoring consistent across users and runs.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355848"/>
            <a:ext cx="493776" cy="493776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28" y="3489168"/>
            <a:ext cx="227137" cy="2271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3355848"/>
            <a:ext cx="16157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68096" y="390448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data stays in your workspace; self-hostable Convex backend.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53105" y="315468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554273" y="3355848"/>
            <a:ext cx="493776" cy="493776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7592" y="3489168"/>
            <a:ext cx="227137" cy="2271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57777" y="3355848"/>
            <a:ext cx="16157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72561" y="390448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 advises; people decide what ships. Never auto-publishes.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56655" y="3154680"/>
            <a:ext cx="2530145" cy="1325880"/>
          </a:xfrm>
          <a:prstGeom prst="roundRect">
            <a:avLst>
              <a:gd name="adj" fmla="val 6207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57823" y="3355848"/>
            <a:ext cx="493776" cy="493776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143" y="3489168"/>
            <a:ext cx="227137" cy="22713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61327" y="3355848"/>
            <a:ext cx="161574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76111" y="3904488"/>
            <a:ext cx="210952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scoring guide shows exactly how every score is computed.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· P1 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and working. Not a prototype.</a:t>
            </a:r>
            <a:endParaRPr lang="en-US" sz="3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92224"/>
            <a:ext cx="164592" cy="164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17556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+ server-side authorization everywhere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67712"/>
            <a:ext cx="164592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" y="2231136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Multi-workspace with Owner / Admin / Member RBAC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43200"/>
            <a:ext cx="164592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1248" y="2706624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Constitution editor + RAG hybrid indexing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18688"/>
            <a:ext cx="164592" cy="164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1248" y="3182112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audits across 6 content types</a:t>
            </a:r>
            <a:endParaRPr lang="en-US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94176"/>
            <a:ext cx="164592" cy="16459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41248" y="36576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Zod-validated structured AI audits</a:t>
            </a:r>
            <a:endParaRPr lang="en-US" sz="11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792224"/>
            <a:ext cx="164592" cy="16459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892040" y="17556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5-dimension scoring (caps · floors · multipliers)</a:t>
            </a:r>
            <a:endParaRPr lang="en-US" sz="11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267712"/>
            <a:ext cx="164592" cy="16459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892040" y="2231136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with evidence, severity &amp; issue type</a:t>
            </a:r>
            <a:endParaRPr lang="en-US" sz="11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743200"/>
            <a:ext cx="164592" cy="16459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892040" y="2706624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↔ rewrite diff + re-audit loop</a:t>
            </a:r>
            <a:endParaRPr lang="en-US" sz="11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218688"/>
            <a:ext cx="164592" cy="16459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892040" y="3182112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+ searchable, filterable history</a:t>
            </a:r>
            <a:endParaRPr lang="en-US" sz="115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694176"/>
            <a:ext cx="164592" cy="16459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892040" y="36576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 + public scoring guide</a:t>
            </a:r>
            <a:endParaRPr lang="en-US" sz="1150" dirty="0"/>
          </a:p>
        </p:txBody>
      </p:sp>
      <p:sp>
        <p:nvSpPr>
          <p:cNvPr id="24" name="Shape 12"/>
          <p:cNvSpPr/>
          <p:nvPr/>
        </p:nvSpPr>
        <p:spPr>
          <a:xfrm>
            <a:off x="548640" y="4224528"/>
            <a:ext cx="1828800" cy="603504"/>
          </a:xfrm>
          <a:prstGeom prst="roundRect">
            <a:avLst>
              <a:gd name="adj" fmla="val 13636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548640" y="422452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2000" dirty="0"/>
          </a:p>
        </p:txBody>
      </p:sp>
      <p:sp>
        <p:nvSpPr>
          <p:cNvPr id="26" name="Shape 14"/>
          <p:cNvSpPr/>
          <p:nvPr/>
        </p:nvSpPr>
        <p:spPr>
          <a:xfrm>
            <a:off x="2651760" y="4224528"/>
            <a:ext cx="1828800" cy="603504"/>
          </a:xfrm>
          <a:prstGeom prst="roundRect">
            <a:avLst>
              <a:gd name="adj" fmla="val 13636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2651760" y="422452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dimensions</a:t>
            </a:r>
            <a:endParaRPr lang="en-US" sz="2000" dirty="0"/>
          </a:p>
        </p:txBody>
      </p:sp>
      <p:sp>
        <p:nvSpPr>
          <p:cNvPr id="28" name="Shape 16"/>
          <p:cNvSpPr/>
          <p:nvPr/>
        </p:nvSpPr>
        <p:spPr>
          <a:xfrm>
            <a:off x="4754880" y="4224528"/>
            <a:ext cx="1828800" cy="603504"/>
          </a:xfrm>
          <a:prstGeom prst="roundRect">
            <a:avLst>
              <a:gd name="adj" fmla="val 13636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4754880" y="422452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2000" dirty="0"/>
          </a:p>
        </p:txBody>
      </p:sp>
      <p:sp>
        <p:nvSpPr>
          <p:cNvPr id="30" name="Shape 18"/>
          <p:cNvSpPr/>
          <p:nvPr/>
        </p:nvSpPr>
        <p:spPr>
          <a:xfrm>
            <a:off x="6858000" y="4224528"/>
            <a:ext cx="1828800" cy="603504"/>
          </a:xfrm>
          <a:prstGeom prst="roundRect">
            <a:avLst>
              <a:gd name="adj" fmla="val 13636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6858000" y="422452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</a:t>
            </a: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scores</a:t>
            </a:r>
            <a:endParaRPr lang="en-US" sz="2000" dirty="0"/>
          </a:p>
        </p:txBody>
      </p:sp>
      <p:sp>
        <p:nvSpPr>
          <p:cNvPr id="32" name="Shape 20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4" name="Text 22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wedge into a $10B+ brand-integrity problem.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SaaS tiers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56816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304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solo / trial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956816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brand · limited audits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797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r>
              <a:rPr lang="en-US" sz="950" i="1" dirty="0">
                <a:solidFill>
                  <a:srgbClr val="AE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★ popular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30723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 / 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72491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brands · RBAC · history · PDF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Agency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workspace + usage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49300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brands · SSO · self-host · API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Adoption:  </a:t>
            </a: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(free audit → workspace → team) + outbound sales into regulated industries &amp; agencies.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1627632"/>
            <a:ext cx="3611880" cy="3154680"/>
          </a:xfrm>
          <a:prstGeom prst="roundRect">
            <a:avLst>
              <a:gd name="adj" fmla="val 2609"/>
            </a:avLst>
          </a:prstGeom>
          <a:solidFill>
            <a:srgbClr val="121215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demand is</a:t>
            </a:r>
            <a:endParaRPr lang="en-US" sz="11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121408"/>
            <a:ext cx="182880" cy="182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522976" y="2066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 </a:t>
            </a: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Health, finance, legal — high willingness to pay</a:t>
            </a:r>
            <a:endParaRPr lang="en-US" sz="11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651760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22976" y="25968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marketing  </a:t>
            </a: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50+ teams across 10+ channels</a:t>
            </a:r>
            <a:endParaRPr lang="en-US" sz="11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182112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22976" y="31272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agencies  </a:t>
            </a: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5–50 client brands, per-brand workspaces</a:t>
            </a:r>
            <a:endParaRPr lang="en-US" sz="11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712464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22976" y="3657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Growth-stage startups  </a:t>
            </a: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Guardrails while hiring &amp; scaling fast</a:t>
            </a:r>
            <a:endParaRPr lang="en-US" sz="11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424281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22976" y="41879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publishing  </a:t>
            </a:r>
            <a:r>
              <a:rPr lang="en-US" sz="10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Editorial voice across many contributors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GLOBAL READINESS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 across teams, channels — and borders.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technically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10" y="214006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9933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&amp; cloud-native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07008" y="22860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scales elastically — near-zero infra ops.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2670048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279843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6517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design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207008" y="29443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tables; findings as separate docs; all queries indexed.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928" y="3328416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10" y="3456798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33101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Multilingual-ready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207008" y="36027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Constitutions &amp; audits work in any language the LLM supports.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6928" y="3986784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10" y="4115166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39684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207008" y="426110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Data-residency options for cross-border compliance.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84632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globally + NRB collaboration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846320" y="2011680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4702" y="2140062"/>
            <a:ext cx="218724" cy="2187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0" y="199339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NRB &amp; global builder network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0" y="228600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modular APIs (P3) let diaspora founders &amp; agencies build on top — and serve as a cross-border GTM channel.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846320" y="2907792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4702" y="3036174"/>
            <a:ext cx="218724" cy="2187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0" y="28895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every market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486400" y="318211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 Dhaka startup and a Fortune 500 alike; brand rules localize per market.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846320" y="3803904"/>
            <a:ext cx="475488" cy="475488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4702" y="3932286"/>
            <a:ext cx="218724" cy="21872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486400" y="378561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standards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5486400" y="4078224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TypeScript-strict, OAuth, RBAC and exportable audit trails align with enterprise &amp; compliance norms.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going.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715872" y="1664208"/>
            <a:ext cx="164592" cy="164592"/>
          </a:xfrm>
          <a:prstGeom prst="ellipse">
            <a:avLst/>
          </a:prstGeom>
          <a:solidFill>
            <a:srgbClr val="CCD5AE"/>
          </a:solidFill>
          <a:ln/>
        </p:spPr>
      </p:sp>
      <p:sp>
        <p:nvSpPr>
          <p:cNvPr id="5" name="Shape 3"/>
          <p:cNvSpPr/>
          <p:nvPr/>
        </p:nvSpPr>
        <p:spPr>
          <a:xfrm>
            <a:off x="1880464" y="1746504"/>
            <a:ext cx="2654503" cy="0"/>
          </a:xfrm>
          <a:prstGeom prst="line">
            <a:avLst/>
          </a:prstGeom>
          <a:noFill/>
          <a:ln w="15875">
            <a:solidFill>
              <a:srgbClr val="2B2B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93392"/>
            <a:ext cx="2499055" cy="2606040"/>
          </a:xfrm>
          <a:prstGeom prst="roundRect">
            <a:avLst>
              <a:gd name="adj" fmla="val 3293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39696"/>
            <a:ext cx="24990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578608"/>
            <a:ext cx="204185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 engine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&amp; RBAC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deterministic scoring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PDF export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Re-audit loop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34967" y="1664208"/>
            <a:ext cx="164592" cy="164592"/>
          </a:xfrm>
          <a:prstGeom prst="ellipse">
            <a:avLst/>
          </a:prstGeom>
          <a:solidFill>
            <a:srgbClr val="FAEDCD"/>
          </a:solidFill>
          <a:ln/>
        </p:spPr>
      </p:sp>
      <p:sp>
        <p:nvSpPr>
          <p:cNvPr id="10" name="Shape 8"/>
          <p:cNvSpPr/>
          <p:nvPr/>
        </p:nvSpPr>
        <p:spPr>
          <a:xfrm>
            <a:off x="4699559" y="1746504"/>
            <a:ext cx="2654503" cy="0"/>
          </a:xfrm>
          <a:prstGeom prst="line">
            <a:avLst/>
          </a:prstGeom>
          <a:noFill/>
          <a:ln w="15875">
            <a:solidFill>
              <a:srgbClr val="2B2B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7735" y="1993392"/>
            <a:ext cx="2499055" cy="2606040"/>
          </a:xfrm>
          <a:prstGeom prst="roundRect">
            <a:avLst>
              <a:gd name="adj" fmla="val 3293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7735" y="2139696"/>
            <a:ext cx="24990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AE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NEXT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60343" y="2578608"/>
            <a:ext cx="204185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score trends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Issue-pattern insights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retry + version compare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invites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transfer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54976" y="1664208"/>
            <a:ext cx="164592" cy="164592"/>
          </a:xfrm>
          <a:prstGeom prst="ellipse">
            <a:avLst/>
          </a:prstGeom>
          <a:solidFill>
            <a:srgbClr val="FEFA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7745" y="1993392"/>
            <a:ext cx="2499055" cy="2606040"/>
          </a:xfrm>
          <a:prstGeom prst="roundRect">
            <a:avLst>
              <a:gd name="adj" fmla="val 3293"/>
            </a:avLst>
          </a:prstGeom>
          <a:solidFill>
            <a:srgbClr val="1A1A1D"/>
          </a:solidFill>
          <a:ln w="12700">
            <a:solidFill>
              <a:srgbClr val="2B2B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7745" y="2139696"/>
            <a:ext cx="24990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VISION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0353" y="2578608"/>
            <a:ext cx="204185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/ social ingestion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alerts + scheduling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webhook export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plans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reach P2 — and who we're looking for.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512064" cy="512064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5" y="222308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2066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43584" y="23774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Regulated-industry teams to pilot the audit loop on real content.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2871216"/>
            <a:ext cx="512064" cy="512064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5" y="3009473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28529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support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43584" y="316382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analytics help to harden P2 reliability and tests.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" y="3657600"/>
            <a:ext cx="512064" cy="512064"/>
          </a:xfrm>
          <a:prstGeom prst="ellipse">
            <a:avLst/>
          </a:prstGeom>
          <a:solidFill>
            <a:srgbClr val="222226"/>
          </a:solidFill>
          <a:ln w="15875">
            <a:solidFill>
              <a:srgbClr val="CCD5A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85" y="3795857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3584" y="36393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&amp; GTM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43584" y="395020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Agencies, enterprises and NRB operators for cross-border go-to-market.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9200" y="16916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1A1E14"/>
          </a:solidFill>
          <a:ln w="12700">
            <a:solidFill>
              <a:srgbClr val="4A523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212080" y="1847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212080" y="221284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strike="sngStrike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r>
              <a:rPr lang="en-US" sz="2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3000" b="1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sec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5212080" y="28895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brand review vs. Narrative Guard.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310128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25526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shipped, production-grade — not a prototype.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230368" y="37673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testers &amp; metrics:  [ add your quotes / numbers here ]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66928" y="4855464"/>
            <a:ext cx="109728" cy="109728"/>
          </a:xfrm>
          <a:prstGeom prst="ellipse">
            <a:avLst/>
          </a:prstGeom>
          <a:ln w="15875">
            <a:solidFill>
              <a:srgbClr val="CCD5A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49808" y="4791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GUARD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3312" y="-1207008"/>
            <a:ext cx="6437376" cy="6437376"/>
          </a:xfrm>
          <a:prstGeom prst="ellipse">
            <a:avLst/>
          </a:prstGeom>
          <a:solidFill>
            <a:srgbClr val="CCD5A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377440" y="-182880"/>
            <a:ext cx="4389120" cy="4389120"/>
          </a:xfrm>
          <a:prstGeom prst="ellipse">
            <a:avLst/>
          </a:prstGeom>
          <a:solidFill>
            <a:srgbClr val="CCD5AE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82112" y="621792"/>
            <a:ext cx="2779776" cy="2779776"/>
          </a:xfrm>
          <a:prstGeom prst="ellipse">
            <a:avLst/>
          </a:prstGeom>
          <a:solidFill>
            <a:srgbClr val="CCD5AE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CD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brand has a voice.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piece of content is a chance to honor it — or betray it.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CCD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Guard makes sure you </a:t>
            </a:r>
            <a:r>
              <a:rPr lang="en-US" sz="2000" b="1" i="1" dirty="0">
                <a:solidFill>
                  <a:srgbClr val="CCD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honor it.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AEB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time. At scale. In seconds.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63040" y="3566160"/>
            <a:ext cx="6217920" cy="1024128"/>
          </a:xfrm>
          <a:prstGeom prst="roundRect">
            <a:avLst>
              <a:gd name="adj" fmla="val 8036"/>
            </a:avLst>
          </a:prstGeom>
          <a:solidFill>
            <a:srgbClr val="1A1A1D"/>
          </a:solidFill>
          <a:ln w="12700">
            <a:solidFill>
              <a:srgbClr val="4A523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45920" y="36941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 — paste your content, see your score.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40782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https://narrative.vercel.app-guard/</a:t>
            </a:r>
          </a:p>
        </p:txBody>
      </p:sp>
      <p:sp>
        <p:nvSpPr>
          <p:cNvPr id="11" name="Text 9"/>
          <p:cNvSpPr/>
          <p:nvPr/>
        </p:nvSpPr>
        <p:spPr>
          <a:xfrm>
            <a:off x="6629400" y="371246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try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0" y="47914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E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F78CD0D-0ED4-4F62-BA20-11077299D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576828"/>
            <a:ext cx="1152144" cy="1024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2493</Words>
  <Application>Microsoft Office PowerPoint</Application>
  <PresentationFormat>On-screen Show (16:9)</PresentationFormat>
  <Paragraphs>369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Narrative Guard — Pitch Deck</dc:title>
  <dc:subject>PptxGenJS Presentation</dc:subject>
  <dc:creator>Narrative Guard</dc:creator>
  <cp:lastModifiedBy>arniedebnath2108@outlook.com</cp:lastModifiedBy>
  <cp:revision>2</cp:revision>
  <dcterms:created xsi:type="dcterms:W3CDTF">2026-06-10T20:21:08Z</dcterms:created>
  <dcterms:modified xsi:type="dcterms:W3CDTF">2026-06-11T19:00:59Z</dcterms:modified>
</cp:coreProperties>
</file>